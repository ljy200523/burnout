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3504" y="384048"/>
            <a:ext cx="1170432" cy="310896"/>
          </a:xfrm>
          <a:prstGeom prst="roundRect">
            <a:avLst>
              <a:gd name="adj" fmla="val 18000"/>
            </a:avLst>
          </a:prstGeom>
          <a:solidFill>
            <a:srgbClr val="E9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84048"/>
            <a:ext cx="9875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776443"/>
                </a:solidFill>
                <a:latin typeface="Aptos"/>
              </a:rPr>
              <a:t>PACE  /  REWARDS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41248"/>
            <a:ext cx="1101852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8332B"/>
                </a:solidFill>
                <a:latin typeface="Aptos"/>
              </a:rPr>
              <a:t>Small rewards make consistency feel worthwhile.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835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64746A"/>
                </a:solidFill>
                <a:latin typeface="Aptos"/>
              </a:rPr>
              <a:t>Check in, earn care points, and use them for simple everyday perks.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938528"/>
            <a:ext cx="10972800" cy="2240280"/>
          </a:xfrm>
          <a:prstGeom prst="roundRect">
            <a:avLst>
              <a:gd name="adj" fmla="val 6000"/>
            </a:avLst>
          </a:prstGeom>
          <a:solidFill>
            <a:srgbClr val="31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12848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D9E4D7"/>
                </a:solidFill>
                <a:latin typeface="Aptos"/>
              </a:rPr>
              <a:t>YOUR PACE, YOUR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51176"/>
            <a:ext cx="5212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Keep your streak moving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54096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6EEE7"/>
                </a:solidFill>
                <a:latin typeface="Aptos"/>
              </a:rPr>
              <a:t>Miss a day? A grace day protects your check-in streak.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28232" y="2258568"/>
            <a:ext cx="2121408" cy="1426464"/>
          </a:xfrm>
          <a:prstGeom prst="roundRect">
            <a:avLst>
              <a:gd name="adj" fmla="val 8000"/>
            </a:avLst>
          </a:prstGeom>
          <a:solidFill>
            <a:srgbClr val="41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441448"/>
            <a:ext cx="17190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DCE9DD"/>
                </a:solidFill>
                <a:latin typeface="Aptos"/>
              </a:rPr>
              <a:t>GRACE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34056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1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182112"/>
            <a:ext cx="171907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E6EEE7"/>
                </a:solidFill>
                <a:latin typeface="Aptos"/>
              </a:rPr>
              <a:t>Use when you miss a 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87384" y="2258568"/>
            <a:ext cx="2395728" cy="1426464"/>
          </a:xfrm>
          <a:prstGeom prst="roundRect">
            <a:avLst>
              <a:gd name="adj" fmla="val 8000"/>
            </a:avLst>
          </a:prstGeom>
          <a:solidFill>
            <a:srgbClr val="41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2441448"/>
            <a:ext cx="19933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DCE9DD"/>
                </a:solidFill>
                <a:latin typeface="Aptos"/>
              </a:rPr>
              <a:t>AVAILABLE 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679192"/>
            <a:ext cx="199339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710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3209544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E6EEE7"/>
                </a:solidFill>
                <a:latin typeface="Aptos"/>
              </a:rPr>
              <a:t>care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4242816"/>
            <a:ext cx="212140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15D4D"/>
                </a:solidFill>
                <a:latin typeface="Aptos"/>
              </a:rPr>
              <a:t>STREAK 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7384" y="4242816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15D4D"/>
                </a:solidFill>
                <a:latin typeface="Aptos"/>
              </a:rPr>
              <a:t>REWARD CURRENCY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590288"/>
            <a:ext cx="7863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8332B"/>
                </a:solidFill>
                <a:latin typeface="Aptos"/>
              </a:rPr>
              <a:t>Choose a small reward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636008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4746A"/>
                </a:solidFill>
                <a:latin typeface="Aptos"/>
              </a:rPr>
              <a:t>Examples from the perks catalogue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5010912"/>
            <a:ext cx="3547872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952" y="521208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F0D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52120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7A5732"/>
                </a:solidFill>
                <a:latin typeface="Aptos"/>
              </a:rPr>
              <a:t>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93792"/>
            <a:ext cx="2615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7A5732"/>
                </a:solidFill>
                <a:latin typeface="Aptos"/>
              </a:rPr>
              <a:t>COFFEE / TEA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431536"/>
            <a:ext cx="261518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8332B"/>
                </a:solidFill>
                <a:latin typeface="Aptos"/>
              </a:rPr>
              <a:t>Campus café voucher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769864"/>
            <a:ext cx="31363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6A"/>
                </a:solidFill>
                <a:latin typeface="Aptos"/>
              </a:rPr>
              <a:t>A coffee, matcha, or bubble tea treat.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6071616"/>
            <a:ext cx="76809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15D4D"/>
                </a:solidFill>
                <a:latin typeface="Aptos"/>
              </a:rPr>
              <a:t>100 pts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82112" y="6053328"/>
            <a:ext cx="768096" cy="310896"/>
          </a:xfrm>
          <a:prstGeom prst="roundRect">
            <a:avLst>
              <a:gd name="adj" fmla="val 18000"/>
            </a:avLst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73552" y="6053328"/>
            <a:ext cx="5852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315D4D"/>
                </a:solidFill>
                <a:latin typeface="Aptos"/>
              </a:rPr>
              <a:t>REDEEM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5112" y="5010912"/>
            <a:ext cx="3547872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480560" y="521208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E7E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52120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4E693D"/>
                </a:solidFill>
                <a:latin typeface="Aptos"/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3208" y="5193792"/>
            <a:ext cx="2615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4E693D"/>
                </a:solidFill>
                <a:latin typeface="Aptos"/>
              </a:rPr>
              <a:t>FOOD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3208" y="5431536"/>
            <a:ext cx="261518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8332B"/>
                </a:solidFill>
                <a:latin typeface="Aptos"/>
              </a:rPr>
              <a:t>Balanced canteen meal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5769864"/>
            <a:ext cx="31363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6A"/>
                </a:solidFill>
                <a:latin typeface="Aptos"/>
              </a:rPr>
              <a:t>A meal at a participating campus eatery.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6071616"/>
            <a:ext cx="76809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15D4D"/>
                </a:solidFill>
                <a:latin typeface="Aptos"/>
              </a:rPr>
              <a:t>180 pts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03720" y="6053328"/>
            <a:ext cx="768096" cy="310896"/>
          </a:xfrm>
          <a:prstGeom prst="roundRect">
            <a:avLst>
              <a:gd name="adj" fmla="val 18000"/>
            </a:avLst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60" y="6053328"/>
            <a:ext cx="5852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315D4D"/>
                </a:solidFill>
                <a:latin typeface="Aptos"/>
              </a:rPr>
              <a:t>REDEEM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5010912"/>
            <a:ext cx="3547872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02168" y="521208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DC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02168" y="52120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426B58"/>
                </a:solidFill>
                <a:latin typeface="Aptos"/>
              </a:rPr>
              <a:t>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14816" y="5193792"/>
            <a:ext cx="2615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426B58"/>
                </a:solidFill>
                <a:latin typeface="Aptos"/>
              </a:rPr>
              <a:t>MOVEMENT / REST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14816" y="5431536"/>
            <a:ext cx="261518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8332B"/>
                </a:solidFill>
                <a:latin typeface="Aptos"/>
              </a:rPr>
              <a:t>Campus gym or pool 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5769864"/>
            <a:ext cx="31363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4746A"/>
                </a:solidFill>
                <a:latin typeface="Aptos"/>
              </a:rPr>
              <a:t>A guest pass or locker credit.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6071616"/>
            <a:ext cx="76809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15D4D"/>
                </a:solidFill>
                <a:latin typeface="Aptos"/>
              </a:rPr>
              <a:t>220 pts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25328" y="6053328"/>
            <a:ext cx="768096" cy="310896"/>
          </a:xfrm>
          <a:prstGeom prst="roundRect">
            <a:avLst>
              <a:gd name="adj" fmla="val 18000"/>
            </a:avLst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16768" y="6053328"/>
            <a:ext cx="5852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315D4D"/>
                </a:solidFill>
                <a:latin typeface="Aptos"/>
              </a:rPr>
              <a:t>REDEEM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" y="6510528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64746A"/>
                </a:solidFill>
                <a:latin typeface="Aptos"/>
              </a:rPr>
              <a:t>CHECK IN  →  EARN CARE POINTS  →  REDEEM A PERK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Pace — Reward System</dc:title>
  <dc:subject>Presentation slide: check-in streaks, grace days, and rewards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